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64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A3EF7-BD4B-8AA9-B4E6-45EC14F9F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265E2D-7961-C648-5218-187443E97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53BBB-5624-2E09-BA6A-CCFDFB6F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AFCA9-3A97-9C8D-6C52-4BD381FC1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7F2D4E-C179-3995-7669-CD26260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4041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C9CFE-300A-C56C-13C8-8FB04F21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6FFC4D-AF05-C237-3C67-1FE51297B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02A042-3750-7338-74BC-853D7E8E6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75F49A-C097-7582-B317-5EF86822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2835D6-0325-0714-2ECE-4D33D98C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370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FBB0D-7F42-EE06-E0DC-C001C061C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6F9F5A-B862-4B9B-317F-F9EADD9D4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7227B8-BA98-E835-DF18-9AC76025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92BC33-AF20-CB11-FB1A-D7E10D21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650376-D694-50DC-B608-53381F1C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90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32E69-65C9-4F78-6DF3-1B5A091F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D11161-485F-E471-93FD-68AAAEE89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0EA5FE-016E-6248-7712-C969A8DA5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3D5460-378C-579E-2537-08279ED2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2A3C41-58F2-A36A-FD20-5566CA9E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6E0EB-A2DB-BAFF-AF3E-732E48EF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120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531ED-4439-3212-FC54-0025E70C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0445A2-2024-861E-7B3C-02D0C83BA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A8DA25-E333-811F-AFAD-84C54CDCC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878F737-F540-F5CF-EBAF-6C3EAFA86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9C2FEB-45E3-A7F8-33C5-AFB2C819C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722101-A715-F1B6-90DF-8C09D4962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770069-A2C8-BA03-0409-636708C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6CA82B-ADB1-6D6E-9445-59342093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4256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61AE5-73D8-27A6-CC7F-80B729B1B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627F25-DBF3-22B4-95F0-9D14290C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AB0BB6-B60E-38A0-4AA4-3066B467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1F0000-D157-4953-28DA-E2342C4E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699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EE2F74-1B69-99DB-F76B-0F970038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55BE11-6CCC-DC23-D3C7-8F3A968E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7A8097-8786-5BF6-264A-FCDA1923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006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BB7FC-888F-680D-7140-063C464F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2CFDE8-5E5B-1093-BFEF-4E018672B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E5C808-C12C-A2BB-AC14-0F58069E2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46C27C-EA7B-FE96-3CE7-341CC548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9DE74E-B174-C747-3DD8-67FC70FE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98B0A0-564D-D901-171C-9C5D47F9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840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7E555-1415-BE8E-5744-A541CE204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FDDB97-C130-0F8E-6322-AB59AA0C2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BEBD4D-559E-F04F-175F-268E027B2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494480-341E-3DD4-72E2-AECF13DF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DA522A-055A-716E-8094-932DB58D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847D0F-ABF0-1E0B-DFAA-62B35064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680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EF5F5-EEF2-7C55-F555-30F14EAA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F2F5F0-1D7E-0EB2-A058-8A30DD060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FAD6BF-B677-EBDB-8AC1-000C5510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7A3056-C179-B616-E37B-C417CA9E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BF1907-9BCE-6CA9-DB0D-CC9FC671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651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12D21C-CE61-FCAF-F223-772B4E1DF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DF422C-605D-3789-E8EB-9FE0C3AAE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4449DB-D141-63B3-CF68-5A1EFDBA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DF8A74-72FF-FB77-A329-BAF3BDD0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8DA30F-0C1D-C7A4-3197-549F9908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068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91BB62-773A-B345-9A40-AD4C03241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45621F-1747-6BDA-D1D6-4E4962FA9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2173A7-F8E6-E56A-490E-A1EEE472F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1341C-BF31-4C09-889E-58A9BF813E77}" type="datetimeFigureOut">
              <a:rPr lang="es-PE" smtClean="0"/>
              <a:t>23/10/2026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02DE8-A903-E92A-2E28-54F37AE09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615134-E82F-7125-F726-76BAE576F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78FCC-92B8-4CCC-8C3E-7EF86CD74D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108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upo 65">
            <a:extLst>
              <a:ext uri="{FF2B5EF4-FFF2-40B4-BE49-F238E27FC236}">
                <a16:creationId xmlns:a16="http://schemas.microsoft.com/office/drawing/2014/main" id="{0B8024E0-D09C-829A-FEB1-7EC474313F3A}"/>
              </a:ext>
            </a:extLst>
          </p:cNvPr>
          <p:cNvGrpSpPr/>
          <p:nvPr/>
        </p:nvGrpSpPr>
        <p:grpSpPr>
          <a:xfrm>
            <a:off x="333375" y="190500"/>
            <a:ext cx="11630025" cy="6090667"/>
            <a:chOff x="333375" y="190500"/>
            <a:chExt cx="11630025" cy="6090667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1BB5281-F533-94A8-2192-9E7B2733D567}"/>
                </a:ext>
              </a:extLst>
            </p:cNvPr>
            <p:cNvSpPr/>
            <p:nvPr/>
          </p:nvSpPr>
          <p:spPr>
            <a:xfrm>
              <a:off x="566166" y="576834"/>
              <a:ext cx="2300859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Navegador Web (Chrome / Edge)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4E6F3E7B-2DC5-55BC-A4F9-04D2ED61F7D3}"/>
                </a:ext>
              </a:extLst>
            </p:cNvPr>
            <p:cNvSpPr/>
            <p:nvPr/>
          </p:nvSpPr>
          <p:spPr>
            <a:xfrm>
              <a:off x="3584609" y="576834"/>
              <a:ext cx="2101815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HTML5 + CSS3 propio (clases e id en español)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50833E6F-1A91-501D-6992-52DED228ABF2}"/>
                </a:ext>
              </a:extLst>
            </p:cNvPr>
            <p:cNvSpPr/>
            <p:nvPr/>
          </p:nvSpPr>
          <p:spPr>
            <a:xfrm>
              <a:off x="642366" y="2005584"/>
              <a:ext cx="1567434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Urls.py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(rutas)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90938160-2190-515A-5A5D-BEF5304D7393}"/>
                </a:ext>
              </a:extLst>
            </p:cNvPr>
            <p:cNvSpPr/>
            <p:nvPr/>
          </p:nvSpPr>
          <p:spPr>
            <a:xfrm>
              <a:off x="2699766" y="2015109"/>
              <a:ext cx="1567434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Vistas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(views.py)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B9DEDE49-6FEC-C2DE-926F-D60FB23ADF22}"/>
                </a:ext>
              </a:extLst>
            </p:cNvPr>
            <p:cNvSpPr/>
            <p:nvPr/>
          </p:nvSpPr>
          <p:spPr>
            <a:xfrm>
              <a:off x="4728591" y="2015109"/>
              <a:ext cx="1567434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Formularios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(form.py)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CD4398E1-34D2-2990-F33C-38DD98A6F3B0}"/>
                </a:ext>
              </a:extLst>
            </p:cNvPr>
            <p:cNvSpPr/>
            <p:nvPr/>
          </p:nvSpPr>
          <p:spPr>
            <a:xfrm>
              <a:off x="6785991" y="2015109"/>
              <a:ext cx="1567434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Plantillas HTML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</a:t>
              </a:r>
              <a:r>
                <a:rPr lang="es-ES" sz="1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templates</a:t>
              </a:r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)</a:t>
              </a:r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E060FCA3-F1CF-D500-23BF-C8C5135B6F0A}"/>
                </a:ext>
              </a:extLst>
            </p:cNvPr>
            <p:cNvSpPr/>
            <p:nvPr/>
          </p:nvSpPr>
          <p:spPr>
            <a:xfrm>
              <a:off x="670941" y="3091434"/>
              <a:ext cx="2558034" cy="676656"/>
            </a:xfrm>
            <a:prstGeom prst="roundRect">
              <a:avLst/>
            </a:prstGeom>
            <a:gradFill>
              <a:gsLst>
                <a:gs pos="90000">
                  <a:srgbClr val="7030A0"/>
                </a:gs>
                <a:gs pos="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Aplicaciones Django: cuentas, pacientes, citas, tratamientos, pagos.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6C826F3C-6772-AFF1-EA2D-CED35741642A}"/>
                </a:ext>
              </a:extLst>
            </p:cNvPr>
            <p:cNvSpPr/>
            <p:nvPr/>
          </p:nvSpPr>
          <p:spPr>
            <a:xfrm>
              <a:off x="3848101" y="3072384"/>
              <a:ext cx="2257424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Modelos (</a:t>
              </a:r>
              <a:r>
                <a:rPr lang="es-ES" sz="1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models,py</a:t>
              </a:r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) ORM de Django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8D9C2DA2-F5C0-48FB-B5ED-530453F4FA45}"/>
                </a:ext>
              </a:extLst>
            </p:cNvPr>
            <p:cNvSpPr/>
            <p:nvPr/>
          </p:nvSpPr>
          <p:spPr>
            <a:xfrm>
              <a:off x="6467476" y="3072384"/>
              <a:ext cx="1924050" cy="676656"/>
            </a:xfrm>
            <a:prstGeom prst="roundRect">
              <a:avLst/>
            </a:prstGeom>
            <a:gradFill>
              <a:gsLst>
                <a:gs pos="94000">
                  <a:schemeClr val="accent6">
                    <a:lumMod val="75000"/>
                  </a:schemeClr>
                </a:gs>
                <a:gs pos="19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Comando programado</a:t>
              </a:r>
            </a:p>
            <a:p>
              <a:pPr algn="ctr"/>
              <a:r>
                <a:rPr lang="es-ES" sz="1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enviar_recordatorios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8B2200EE-7238-068F-E134-78B74597E9A3}"/>
                </a:ext>
              </a:extLst>
            </p:cNvPr>
            <p:cNvSpPr/>
            <p:nvPr/>
          </p:nvSpPr>
          <p:spPr>
            <a:xfrm>
              <a:off x="785241" y="4558283"/>
              <a:ext cx="2443734" cy="1013842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Controlador </a:t>
              </a:r>
              <a:r>
                <a:rPr lang="es-ES" sz="1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mssql-django</a:t>
              </a:r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+ </a:t>
              </a:r>
              <a:r>
                <a:rPr lang="es-ES" sz="1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pyodbc</a:t>
              </a:r>
              <a:endParaRPr lang="es-E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(ODBC Driver 18)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212572AB-333D-DD0C-0C23-CBC7B4123EF7}"/>
                </a:ext>
              </a:extLst>
            </p:cNvPr>
            <p:cNvSpPr/>
            <p:nvPr/>
          </p:nvSpPr>
          <p:spPr>
            <a:xfrm>
              <a:off x="3819525" y="4548759"/>
              <a:ext cx="2257425" cy="1566292"/>
            </a:xfrm>
            <a:prstGeom prst="roundRect">
              <a:avLst/>
            </a:prstGeom>
            <a:gradFill>
              <a:gsLst>
                <a:gs pos="94000">
                  <a:schemeClr val="accent6">
                    <a:lumMod val="75000"/>
                  </a:schemeClr>
                </a:gs>
                <a:gs pos="19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SQL Server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Base de datos: BD_NADINNE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Tablas: Usuario, Paciente, Cita, Tratamiento, </a:t>
              </a:r>
              <a:r>
                <a:rPr lang="es-ES" sz="1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SesiónTratamiento</a:t>
              </a:r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, Pago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EDB4E59A-DE18-3484-F29D-FFB8E7096D7C}"/>
                </a:ext>
              </a:extLst>
            </p:cNvPr>
            <p:cNvSpPr/>
            <p:nvPr/>
          </p:nvSpPr>
          <p:spPr>
            <a:xfrm>
              <a:off x="6572250" y="4548759"/>
              <a:ext cx="1800225" cy="102336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Copias de Seguridad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(.</a:t>
              </a:r>
              <a:r>
                <a:rPr lang="es-ES" sz="1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bak</a:t>
              </a:r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programadas)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D6E07F76-A83E-2821-FE6C-A96E78E70857}"/>
                </a:ext>
              </a:extLst>
            </p:cNvPr>
            <p:cNvSpPr/>
            <p:nvPr/>
          </p:nvSpPr>
          <p:spPr>
            <a:xfrm>
              <a:off x="6280184" y="576834"/>
              <a:ext cx="2101815" cy="676656"/>
            </a:xfrm>
            <a:prstGeom prst="roundRect">
              <a:avLst/>
            </a:prstGeom>
            <a:gradFill>
              <a:gsLst>
                <a:gs pos="0">
                  <a:srgbClr val="002060"/>
                </a:gs>
                <a:gs pos="40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JavaScript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(validaciones y filtros)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ED005DE8-2212-CD74-AD4B-FBCA92869DDA}"/>
                </a:ext>
              </a:extLst>
            </p:cNvPr>
            <p:cNvSpPr/>
            <p:nvPr/>
          </p:nvSpPr>
          <p:spPr>
            <a:xfrm>
              <a:off x="333375" y="190500"/>
              <a:ext cx="8324850" cy="1228725"/>
            </a:xfrm>
            <a:prstGeom prst="roundRect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955FC80-14D3-E55C-D30E-C5DE30ABB01C}"/>
                </a:ext>
              </a:extLst>
            </p:cNvPr>
            <p:cNvSpPr txBox="1"/>
            <p:nvPr/>
          </p:nvSpPr>
          <p:spPr>
            <a:xfrm>
              <a:off x="533400" y="190500"/>
              <a:ext cx="337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CAPA DE PRESENTACIÓN (Cliente)</a:t>
              </a:r>
              <a:endPara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3D35BC7D-94CE-C1FF-D689-2F28A1598E77}"/>
                </a:ext>
              </a:extLst>
            </p:cNvPr>
            <p:cNvSpPr/>
            <p:nvPr/>
          </p:nvSpPr>
          <p:spPr>
            <a:xfrm>
              <a:off x="361950" y="1647825"/>
              <a:ext cx="8324850" cy="2276475"/>
            </a:xfrm>
            <a:prstGeom prst="roundRect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76C49C4A-B0E4-9B5D-C14D-91AFD0A89803}"/>
                </a:ext>
              </a:extLst>
            </p:cNvPr>
            <p:cNvSpPr txBox="1"/>
            <p:nvPr/>
          </p:nvSpPr>
          <p:spPr>
            <a:xfrm>
              <a:off x="571500" y="1647825"/>
              <a:ext cx="5391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CAPA DE APLICACIÓN (Servidor Django – patrón MVT)</a:t>
              </a:r>
              <a:endPara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A007F4D7-9905-11B2-A1A2-158194A9A157}"/>
                </a:ext>
              </a:extLst>
            </p:cNvPr>
            <p:cNvSpPr/>
            <p:nvPr/>
          </p:nvSpPr>
          <p:spPr>
            <a:xfrm>
              <a:off x="419100" y="4210051"/>
              <a:ext cx="8324850" cy="2071116"/>
            </a:xfrm>
            <a:prstGeom prst="roundRect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9F6951DF-78A0-C60E-2464-E49B7513BAA5}"/>
                </a:ext>
              </a:extLst>
            </p:cNvPr>
            <p:cNvSpPr txBox="1"/>
            <p:nvPr/>
          </p:nvSpPr>
          <p:spPr>
            <a:xfrm>
              <a:off x="733425" y="4210050"/>
              <a:ext cx="16911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CAPA DE DATOS</a:t>
              </a:r>
              <a:endParaRPr lang="es-P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AA79792E-D94F-8C14-483B-95FAA81ECB39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1466850" y="1253490"/>
              <a:ext cx="249746" cy="752094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86420033-B654-7933-A090-F703EB60BA33}"/>
                </a:ext>
              </a:extLst>
            </p:cNvPr>
            <p:cNvCxnSpPr>
              <a:stCxn id="32" idx="2"/>
              <a:endCxn id="16" idx="0"/>
            </p:cNvCxnSpPr>
            <p:nvPr/>
          </p:nvCxnSpPr>
          <p:spPr>
            <a:xfrm>
              <a:off x="7331092" y="1253490"/>
              <a:ext cx="238616" cy="76161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8B73C917-164B-EDE7-2F83-F10FB046095D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1426083" y="2682240"/>
              <a:ext cx="40767" cy="40919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12369838-E8BF-8AAE-3ACF-864215DBD33B}"/>
                </a:ext>
              </a:extLst>
            </p:cNvPr>
            <p:cNvCxnSpPr>
              <a:stCxn id="12" idx="2"/>
            </p:cNvCxnSpPr>
            <p:nvPr/>
          </p:nvCxnSpPr>
          <p:spPr>
            <a:xfrm>
              <a:off x="3483483" y="2691765"/>
              <a:ext cx="783717" cy="38061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6E84222F-173D-A982-C8FF-43AE5EDB8724}"/>
                </a:ext>
              </a:extLst>
            </p:cNvPr>
            <p:cNvCxnSpPr>
              <a:stCxn id="18" idx="3"/>
              <a:endCxn id="20" idx="1"/>
            </p:cNvCxnSpPr>
            <p:nvPr/>
          </p:nvCxnSpPr>
          <p:spPr>
            <a:xfrm flipV="1">
              <a:off x="3228975" y="3410712"/>
              <a:ext cx="619126" cy="1905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AF403F7D-8AD7-29FE-E1B1-297238EC5228}"/>
                </a:ext>
              </a:extLst>
            </p:cNvPr>
            <p:cNvCxnSpPr>
              <a:stCxn id="20" idx="2"/>
              <a:endCxn id="28" idx="0"/>
            </p:cNvCxnSpPr>
            <p:nvPr/>
          </p:nvCxnSpPr>
          <p:spPr>
            <a:xfrm flipH="1">
              <a:off x="4948238" y="3749040"/>
              <a:ext cx="28575" cy="79971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23AACEAE-0DEA-45FC-141E-C85A33916609}"/>
                </a:ext>
              </a:extLst>
            </p:cNvPr>
            <p:cNvCxnSpPr>
              <a:stCxn id="24" idx="3"/>
              <a:endCxn id="28" idx="1"/>
            </p:cNvCxnSpPr>
            <p:nvPr/>
          </p:nvCxnSpPr>
          <p:spPr>
            <a:xfrm>
              <a:off x="3228975" y="5065204"/>
              <a:ext cx="590550" cy="26670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de flecha 57">
              <a:extLst>
                <a:ext uri="{FF2B5EF4-FFF2-40B4-BE49-F238E27FC236}">
                  <a16:creationId xmlns:a16="http://schemas.microsoft.com/office/drawing/2014/main" id="{9F33392F-907C-ADEF-C1FE-F5C3010ACED5}"/>
                </a:ext>
              </a:extLst>
            </p:cNvPr>
            <p:cNvCxnSpPr>
              <a:stCxn id="28" idx="3"/>
              <a:endCxn id="30" idx="1"/>
            </p:cNvCxnSpPr>
            <p:nvPr/>
          </p:nvCxnSpPr>
          <p:spPr>
            <a:xfrm flipV="1">
              <a:off x="6076950" y="5060442"/>
              <a:ext cx="495300" cy="271463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1CF651E3-BA81-7BB1-BC10-56A51764CE43}"/>
                </a:ext>
              </a:extLst>
            </p:cNvPr>
            <p:cNvSpPr/>
            <p:nvPr/>
          </p:nvSpPr>
          <p:spPr>
            <a:xfrm>
              <a:off x="9534526" y="2500884"/>
              <a:ext cx="1924050" cy="676656"/>
            </a:xfrm>
            <a:prstGeom prst="roundRect">
              <a:avLst/>
            </a:prstGeom>
            <a:gradFill>
              <a:gsLst>
                <a:gs pos="94000">
                  <a:schemeClr val="accent6">
                    <a:lumMod val="75000"/>
                  </a:schemeClr>
                </a:gs>
                <a:gs pos="19000">
                  <a:schemeClr val="accent5">
                    <a:lumMod val="50000"/>
                  </a:schemeClr>
                </a:gs>
              </a:gsLst>
              <a:lin ang="5400000" scaled="1"/>
            </a:gradFill>
            <a:effectLst>
              <a:outerShdw blurRad="88900" dist="38100" dir="18900000" sx="102000" sy="102000" algn="bl" rotWithShape="0">
                <a:prstClr val="black">
                  <a:alpha val="6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Servicio de correo</a:t>
              </a:r>
            </a:p>
            <a:p>
              <a:pPr algn="ctr"/>
              <a:r>
                <a:rPr lang="es-E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(servidor SMTP)</a:t>
              </a:r>
              <a:endParaRPr lang="es-PE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62" name="Conector recto de flecha 61">
              <a:extLst>
                <a:ext uri="{FF2B5EF4-FFF2-40B4-BE49-F238E27FC236}">
                  <a16:creationId xmlns:a16="http://schemas.microsoft.com/office/drawing/2014/main" id="{CFE5FBFC-429C-CB35-9312-06C0637A9C36}"/>
                </a:ext>
              </a:extLst>
            </p:cNvPr>
            <p:cNvCxnSpPr>
              <a:stCxn id="22" idx="3"/>
              <a:endCxn id="60" idx="1"/>
            </p:cNvCxnSpPr>
            <p:nvPr/>
          </p:nvCxnSpPr>
          <p:spPr>
            <a:xfrm flipV="1">
              <a:off x="8391526" y="2839212"/>
              <a:ext cx="1143000" cy="5715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99167D9E-4E28-48B5-61F7-F024B9F0DCD2}"/>
                </a:ext>
              </a:extLst>
            </p:cNvPr>
            <p:cNvSpPr txBox="1"/>
            <p:nvPr/>
          </p:nvSpPr>
          <p:spPr>
            <a:xfrm>
              <a:off x="8610600" y="3181350"/>
              <a:ext cx="18200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/>
                <a:t>Envia</a:t>
              </a:r>
              <a:r>
                <a:rPr lang="es-ES" sz="1200" b="1" dirty="0"/>
                <a:t> recordatorio de cita</a:t>
              </a:r>
              <a:endParaRPr lang="es-PE" sz="1200" b="1" dirty="0"/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14648D55-C8FF-CA1E-4A8E-278110697BC6}"/>
                </a:ext>
              </a:extLst>
            </p:cNvPr>
            <p:cNvSpPr txBox="1"/>
            <p:nvPr/>
          </p:nvSpPr>
          <p:spPr>
            <a:xfrm>
              <a:off x="8867775" y="3924300"/>
              <a:ext cx="3095625" cy="224676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dirty="0"/>
                <a:t>Flujo de una Solicitud:</a:t>
              </a:r>
            </a:p>
            <a:p>
              <a:endParaRPr lang="es-ES" sz="1400" b="1" dirty="0"/>
            </a:p>
            <a:p>
              <a:pPr marL="342900" indent="-342900">
                <a:buAutoNum type="arabicPeriod"/>
              </a:pPr>
              <a:r>
                <a:rPr lang="es-ES" sz="1400" dirty="0"/>
                <a:t>El navegador envía la petición HTTP.</a:t>
              </a:r>
            </a:p>
            <a:p>
              <a:pPr marL="342900" indent="-342900">
                <a:buAutoNum type="arabicPeriod"/>
              </a:pPr>
              <a:r>
                <a:rPr lang="es-ES" sz="1400" dirty="0"/>
                <a:t>urls.py la dirige a una vista.</a:t>
              </a:r>
            </a:p>
            <a:p>
              <a:pPr marL="342900" indent="-342900">
                <a:buAutoNum type="arabicPeriod"/>
              </a:pPr>
              <a:r>
                <a:rPr lang="es-ES" sz="1400" dirty="0"/>
                <a:t>La vista usa formularios y modelos.</a:t>
              </a:r>
            </a:p>
            <a:p>
              <a:pPr marL="342900" indent="-342900">
                <a:buAutoNum type="arabicPeriod"/>
              </a:pPr>
              <a:r>
                <a:rPr lang="es-ES" sz="1400" dirty="0"/>
                <a:t>El ORM consulta a SQL Server.</a:t>
              </a:r>
            </a:p>
            <a:p>
              <a:pPr marL="342900" indent="-342900">
                <a:buAutoNum type="arabicPeriod"/>
              </a:pPr>
              <a:r>
                <a:rPr lang="es-ES" sz="1400" dirty="0"/>
                <a:t>Se renderiza la plantilla HTML.</a:t>
              </a:r>
            </a:p>
            <a:p>
              <a:pPr marL="342900" indent="-342900">
                <a:buAutoNum type="arabicPeriod"/>
              </a:pPr>
              <a:r>
                <a:rPr lang="es-ES" sz="1400" dirty="0"/>
                <a:t>La respuesta vuelve al navegador.</a:t>
              </a:r>
            </a:p>
            <a:p>
              <a:pPr marL="342900" indent="-342900">
                <a:buAutoNum type="arabicPeriod"/>
              </a:pPr>
              <a:endParaRPr lang="es-P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65454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Panorámica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ABEL JIMENEZ MARIN</dc:creator>
  <cp:lastModifiedBy>ABEL JIMENEZ MARIN</cp:lastModifiedBy>
  <cp:revision>1</cp:revision>
  <dcterms:created xsi:type="dcterms:W3CDTF">2026-10-23T23:24:30Z</dcterms:created>
  <dcterms:modified xsi:type="dcterms:W3CDTF">2026-10-23T23:25:02Z</dcterms:modified>
</cp:coreProperties>
</file>